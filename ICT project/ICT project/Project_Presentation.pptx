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6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"/>
            <a:ext cx="4754880" cy="5486400"/>
          </a:xfrm>
          <a:prstGeom prst="rect">
            <a:avLst/>
          </a:prstGeom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3480" y="0"/>
            <a:ext cx="54864" cy="5143500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017520"/>
            <a:ext cx="4526280" cy="50292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029200" cy="50292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0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 PROJECT  ·  COMSATS UNIVERSITY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292608"/>
            <a:ext cx="3886200" cy="37490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5138928" y="292608"/>
            <a:ext cx="3886200" cy="374904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A078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6583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500" dirty="0">
                <a:solidFill>
                  <a:srgbClr val="9E91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ADVENTURES OF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" y="960120"/>
            <a:ext cx="484632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A0785A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AJX  704</a:t>
            </a:r>
            <a:endParaRPr lang="en-US" sz="7600" dirty="0"/>
          </a:p>
        </p:txBody>
      </p:sp>
      <p:sp>
        <p:nvSpPr>
          <p:cNvPr id="11" name="Text 8"/>
          <p:cNvSpPr/>
          <p:nvPr/>
        </p:nvSpPr>
        <p:spPr>
          <a:xfrm>
            <a:off x="320040" y="2304288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BROKEN HIGHWAY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320040" y="3108960"/>
            <a:ext cx="4617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Real-Time Arcade Game built with Pure Python + Tkinter</a:t>
            </a:r>
            <a:endParaRPr lang="en-US" sz="1150" dirty="0"/>
          </a:p>
          <a:p>
            <a:pPr marL="0" indent="0" algn="l">
              <a:buNone/>
            </a:pPr>
            <a:r>
              <a:rPr lang="en-US" sz="1150" i="1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game engine · No external libraries · 60 FPS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" y="3913632"/>
            <a:ext cx="2176272" cy="80467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3913632"/>
            <a:ext cx="54864" cy="804672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" y="39319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Abdul Salam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29768" y="4297680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7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SP26-BSE-004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70048" y="3913632"/>
            <a:ext cx="2331720" cy="80467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670048" y="3913632"/>
            <a:ext cx="54864" cy="804672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79776" y="393192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Muhammad Fazal E Rabbi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779776" y="4297680"/>
            <a:ext cx="2148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SP26-BSE-044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E91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 ·  Tkinter  ·  OOP  ·  Physics Engine  ·  Game Loop  ·  FSM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PROJECT INTRODUCTION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64008"/>
            <a:ext cx="100584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A0785A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64008" cy="3767328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WHAT IS IT?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27048"/>
            <a:ext cx="1280160" cy="45720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09344"/>
            <a:ext cx="3858768" cy="3063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C1A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Broken Highway</a:t>
            </a:r>
            <a:r>
              <a:rPr lang="en-US" sz="12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an arcade game where you drive the legendary </a:t>
            </a:r>
            <a:r>
              <a:rPr lang="en-US" sz="1250" b="1" dirty="0">
                <a:solidFill>
                  <a:srgbClr val="A07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AJX-704 (X90 Toyota Mark II)</a:t>
            </a:r>
            <a:r>
              <a:rPr lang="en-US" sz="12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on a crumbling suspended highway bridge.
</a:t>
            </a:r>
            <a:r>
              <a:rPr lang="en-US" sz="1250" b="1" dirty="0">
                <a:solidFill>
                  <a:srgbClr val="8B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Press SPACE</a:t>
            </a:r>
            <a:r>
              <a:rPr lang="en-US" sz="12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to jump over gaps — supports </a:t>
            </a:r>
            <a:r>
              <a:rPr lang="en-US" sz="1250" b="1" dirty="0">
                <a:solidFill>
                  <a:srgbClr val="2C1A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 Jump</a:t>
            </a:r>
            <a:r>
              <a:rPr lang="en-US" sz="12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Fall through a gap and it's </a:t>
            </a:r>
            <a:r>
              <a:rPr lang="en-US" sz="1250" b="1" dirty="0">
                <a:solidFill>
                  <a:srgbClr val="7A4A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Over</a:t>
            </a:r>
            <a:r>
              <a:rPr lang="en-US" sz="12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
</a:t>
            </a:r>
            <a:r>
              <a:rPr lang="en-US" sz="1250" b="1" dirty="0">
                <a:solidFill>
                  <a:srgbClr val="2C1A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using Python's standard library only</a:t>
            </a:r>
            <a:r>
              <a:rPr lang="en-US" sz="12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no Unity, no Pygame, no external dependencies.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024128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24128"/>
            <a:ext cx="64008" cy="3767328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11556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WHY WE BUILT IT?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73752" y="1527048"/>
            <a:ext cx="1463040" cy="45720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73752" y="1700784"/>
            <a:ext cx="347472" cy="329184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700784"/>
            <a:ext cx="3474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664208"/>
            <a:ext cx="3429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engines (Unity, Godot) hide the fundamental CS concepts — we wanted raw control over every pixel.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73752" y="2468880"/>
            <a:ext cx="347472" cy="329184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468880"/>
            <a:ext cx="3474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2432304"/>
            <a:ext cx="3429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Implementing real gravity, AABB collision, and a 60 FPS render loop without any library is a genuine engineering challenge.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73752" y="3236976"/>
            <a:ext cx="347472" cy="329184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236976"/>
            <a:ext cx="3474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3200400"/>
            <a:ext cx="3429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game format makes CS101 concepts — Variables, Loops, Conditionals, OOP — visual, tangible, and satisfying.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73752" y="4005072"/>
            <a:ext cx="347472" cy="329184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4005072"/>
            <a:ext cx="3474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968496"/>
            <a:ext cx="342900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Tribute to a real drift car (the AJX-704) beloved by our group — meaningful and personal.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KEY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64008"/>
            <a:ext cx="100584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8B6F5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02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724912" cy="73152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" y="1143000"/>
            <a:ext cx="347472" cy="347472"/>
          </a:xfrm>
          <a:prstGeom prst="ellipse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11430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1124712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Double Jump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4904" y="1572768"/>
            <a:ext cx="2487168" cy="18288"/>
          </a:xfrm>
          <a:prstGeom prst="rect">
            <a:avLst/>
          </a:prstGeom>
          <a:solidFill>
            <a:srgbClr val="D0D6DE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" y="1664208"/>
            <a:ext cx="2487168" cy="9784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Press SPACE mid-air for a 2nd burst. Physics-accurate vertical kinematics — configurable gravity &amp; jump velocity.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724912" cy="73152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9272" y="1143000"/>
            <a:ext cx="347472" cy="347472"/>
          </a:xfrm>
          <a:prstGeom prst="ellipse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1430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67328" y="1124712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7-Layer Parallax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9272" y="1572768"/>
            <a:ext cx="2487168" cy="18288"/>
          </a:xfrm>
          <a:prstGeom prst="rect">
            <a:avLst/>
          </a:prstGeom>
          <a:solidFill>
            <a:srgbClr val="D0D6DE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664208"/>
            <a:ext cx="2487168" cy="9784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Sky gradient, sun/moon, mountains, skyscrapers, wires — all rendering at different scroll speeds for depth.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44768" y="1005840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1005840"/>
            <a:ext cx="2724912" cy="73152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143000"/>
            <a:ext cx="347472" cy="347472"/>
          </a:xfrm>
          <a:prstGeom prst="ellipse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1430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11696" y="1124712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AABB Collision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1572768"/>
            <a:ext cx="2487168" cy="18288"/>
          </a:xfrm>
          <a:prstGeom prst="rect">
            <a:avLst/>
          </a:prstGeom>
          <a:solidFill>
            <a:srgbClr val="D0D6DE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664208"/>
            <a:ext cx="2487168" cy="9784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Axis-Aligned Bounding Box detects car–gap intersections every frame at 60 FPS. One miss = Game Over.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" y="2944368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944368"/>
            <a:ext cx="2724912" cy="73152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904" y="3081528"/>
            <a:ext cx="347472" cy="347472"/>
          </a:xfrm>
          <a:prstGeom prst="ellipse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" y="30815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22960" y="30632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Dynamic Scoring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4904" y="3511296"/>
            <a:ext cx="2487168" cy="18288"/>
          </a:xfrm>
          <a:prstGeom prst="rect">
            <a:avLst/>
          </a:prstGeom>
          <a:solidFill>
            <a:srgbClr val="D0D6DE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" y="3602736"/>
            <a:ext cx="2487168" cy="9784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= distance × 0.5 + gaps × 100. Speed spikes at milestones. Best score persisted to highscore.txt.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0" y="2944368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944368"/>
            <a:ext cx="2724912" cy="73152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9272" y="3081528"/>
            <a:ext cx="347472" cy="347472"/>
          </a:xfrm>
          <a:prstGeom prst="ellipse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30815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67328" y="30632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Juice Engine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19272" y="3511296"/>
            <a:ext cx="2487168" cy="18288"/>
          </a:xfrm>
          <a:prstGeom prst="rect">
            <a:avLst/>
          </a:prstGeom>
          <a:solidFill>
            <a:srgbClr val="D0D6DE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3602736"/>
            <a:ext cx="2487168" cy="9784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landings fire screen-shake + directional spark particles proportional to fall height. Combo floaters: GREAT!, AJX!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44768" y="2944368"/>
            <a:ext cx="2724912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44768" y="2944368"/>
            <a:ext cx="2724912" cy="73152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3081528"/>
            <a:ext cx="347472" cy="347472"/>
          </a:xfrm>
          <a:prstGeom prst="ellipse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308152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06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11696" y="3063240"/>
            <a:ext cx="2057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Day → Night Cycle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63640" y="3511296"/>
            <a:ext cx="2487168" cy="18288"/>
          </a:xfrm>
          <a:prstGeom prst="rect">
            <a:avLst/>
          </a:prstGeom>
          <a:solidFill>
            <a:srgbClr val="D0D6DE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3602736"/>
            <a:ext cx="2487168" cy="9784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Palette shifts as score rises. Rain, lightning, and headlight cones activate automatically at night.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PROJECT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64008"/>
            <a:ext cx="100584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7A4A35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03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1508760" cy="228600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60120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C1A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STARTUP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01568" y="960120"/>
            <a:ext cx="1508760" cy="228600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01568" y="960120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 FPS GAME LOOP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473952" y="960120"/>
            <a:ext cx="1508760" cy="228600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960120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" y="1261872"/>
            <a:ext cx="1508760" cy="384048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" y="126187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1A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 Start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10412" y="1645920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737360"/>
            <a:ext cx="1508760" cy="384048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" y="173736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Resolution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10412" y="2121408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212848"/>
            <a:ext cx="1508760" cy="384048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" y="2212848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Window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10412" y="2596896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" y="2688336"/>
            <a:ext cx="1508760" cy="384048"/>
          </a:xfrm>
          <a:prstGeom prst="rect">
            <a:avLst/>
          </a:prstGeom>
          <a:solidFill>
            <a:srgbClr val="8B6F5E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032" y="2688336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⬦ SPACE Press?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10412" y="3072384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3163824"/>
            <a:ext cx="1508760" cy="384048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6032" y="3163824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→ 2 → 1 → GO!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010412" y="3547872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639312"/>
            <a:ext cx="1508760" cy="384048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6032" y="363931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= PLAYING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764792" y="3831336"/>
            <a:ext cx="1636776" cy="0"/>
          </a:xfrm>
          <a:prstGeom prst="line">
            <a:avLst/>
          </a:prstGeom>
          <a:noFill/>
          <a:ln w="19050">
            <a:solidFill>
              <a:srgbClr val="C0B8B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401568" y="1261872"/>
            <a:ext cx="1508760" cy="384048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01568" y="126187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Gravity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55948" y="1645920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1568" y="1737360"/>
            <a:ext cx="1508760" cy="384048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401568" y="173736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Car (vy)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55948" y="2121408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01568" y="2212848"/>
            <a:ext cx="1508760" cy="384048"/>
          </a:xfrm>
          <a:prstGeom prst="rect">
            <a:avLst/>
          </a:prstGeom>
          <a:solidFill>
            <a:srgbClr val="8B6F5E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01568" y="2212848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⬦ On Ground?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55948" y="2596896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1568" y="2688336"/>
            <a:ext cx="1508760" cy="384048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01568" y="2688336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Gap Collision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55948" y="3072384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01568" y="3163824"/>
            <a:ext cx="1508760" cy="384048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401568" y="3163824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Gaps Left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155948" y="3547872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01568" y="3639312"/>
            <a:ext cx="1508760" cy="384048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401568" y="363931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Score + Speed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10328" y="3831336"/>
            <a:ext cx="1563624" cy="0"/>
          </a:xfrm>
          <a:prstGeom prst="line">
            <a:avLst/>
          </a:prstGeom>
          <a:noFill/>
          <a:ln w="19050">
            <a:solidFill>
              <a:srgbClr val="C0B8B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6473952" y="1261872"/>
            <a:ext cx="15087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73952" y="126187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Draw Scene (7 Layers)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228332" y="1645920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73952" y="1737360"/>
            <a:ext cx="1508760" cy="384048"/>
          </a:xfrm>
          <a:prstGeom prst="rect">
            <a:avLst/>
          </a:prstGeom>
          <a:solidFill>
            <a:srgbClr val="7A4A35"/>
          </a:solidFill>
          <a:ln w="19050">
            <a:solidFill>
              <a:srgbClr val="FFFF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73952" y="1737360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⬦ Collision?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28332" y="2121408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73952" y="2212848"/>
            <a:ext cx="1508760" cy="384048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473952" y="2212848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= DYING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228332" y="2596896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73952" y="2688336"/>
            <a:ext cx="1508760" cy="384048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473952" y="2688336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 Falls Off Screen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228332" y="3072384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73952" y="3163824"/>
            <a:ext cx="1508760" cy="384048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6473952" y="3163824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OVER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228332" y="3547872"/>
            <a:ext cx="0" cy="91440"/>
          </a:xfrm>
          <a:prstGeom prst="line">
            <a:avLst/>
          </a:prstGeom>
          <a:noFill/>
          <a:ln w="19050">
            <a:solidFill>
              <a:srgbClr val="C0B8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73952" y="3639312"/>
            <a:ext cx="1508760" cy="384048"/>
          </a:xfrm>
          <a:prstGeom prst="rect">
            <a:avLst/>
          </a:prstGeom>
          <a:solidFill>
            <a:srgbClr val="2A3347"/>
          </a:solidFill>
          <a:ln w="12700">
            <a:solidFill>
              <a:srgbClr val="2A334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6473952" y="3639312"/>
            <a:ext cx="1508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= Restart · Q = Quit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473952" y="405079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B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↩  R key loops back to countdown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0">
            <a:noFill/>
          </a:ln>
        </p:spPr>
      </p:sp>
      <p:sp>
        <p:nvSpPr>
          <p:cNvPr id="3" name="AccentLine"/>
          <p:cNvSpPr/>
          <p:nvPr/>
        </p:nvSpPr>
        <p:spPr>
          <a:xfrm>
            <a:off x="0" y="914400"/>
            <a:ext cx="9144000" cy="57600"/>
          </a:xfrm>
          <a:prstGeom prst="rect">
            <a:avLst/>
          </a:prstGeom>
          <a:solidFill>
            <a:srgbClr val="C4956A"/>
          </a:solidFill>
          <a:ln w="0">
            <a:noFill/>
          </a:ln>
        </p:spPr>
      </p:sp>
      <p:sp>
        <p:nvSpPr>
          <p:cNvPr id="4" name="Title"/>
          <p:cNvSpPr/>
          <p:nvPr/>
        </p:nvSpPr>
        <p:spPr>
          <a:xfrm>
            <a:off x="228600" y="100000"/>
            <a:ext cx="7500000" cy="75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mbria" panose="02040503050406030204"/>
              </a:rPr>
              <a:t>RAPTOR FLOWCHART</a:t>
            </a:r>
            <a:endParaRPr lang="en-US" sz="3200" b="1" dirty="0">
              <a:solidFill>
                <a:srgbClr val="FFFFFF"/>
              </a:solidFill>
              <a:latin typeface="Cambria" panose="02040503050406030204"/>
            </a:endParaRPr>
          </a:p>
        </p:txBody>
      </p:sp>
      <p:sp>
        <p:nvSpPr>
          <p:cNvPr id="5" name="Badge"/>
          <p:cNvSpPr/>
          <p:nvPr/>
        </p:nvSpPr>
        <p:spPr>
          <a:xfrm>
            <a:off x="8572800" y="200000"/>
            <a:ext cx="457200" cy="457200"/>
          </a:xfrm>
          <a:prstGeom prst="rect">
            <a:avLst/>
          </a:prstGeom>
          <a:solidFill>
            <a:srgbClr val="A0785A"/>
          </a:solidFill>
          <a:ln w="0"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2C1A0E"/>
                </a:solidFill>
                <a:latin typeface="Arial" panose="020B0604020202020204"/>
              </a:rPr>
              <a:t>03b</a:t>
            </a:r>
            <a:endParaRPr lang="en-US" sz="1400" b="1" dirty="0">
              <a:solidFill>
                <a:srgbClr val="2C1A0E"/>
              </a:solidFill>
              <a:latin typeface="Arial" panose="020B0604020202020204"/>
            </a:endParaRPr>
          </a:p>
        </p:txBody>
      </p:sp>
      <p:sp>
        <p:nvSpPr>
          <p:cNvPr id="6" name="Subtitle"/>
          <p:cNvSpPr/>
          <p:nvPr/>
        </p:nvSpPr>
        <p:spPr>
          <a:xfrm>
            <a:off x="228600" y="985000"/>
            <a:ext cx="8686800" cy="28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300" b="0" dirty="0">
                <a:solidFill>
                  <a:srgbClr val="555555"/>
                </a:solidFill>
                <a:latin typeface="Calibri" panose="020F0502020204030204"/>
              </a:rPr>
              <a:t>Program logic visualized in RAPTOR -- initialization, game loop, jump mechanics, collision detection &amp; scoring</a:t>
            </a:r>
            <a:endParaRPr lang="en-US" sz="1300" b="0" dirty="0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7" name="Label1"/>
          <p:cNvSpPr/>
          <p:nvPr/>
        </p:nvSpPr>
        <p:spPr>
          <a:xfrm>
            <a:off x="228600" y="1285000"/>
            <a:ext cx="4200000" cy="250000"/>
          </a:xfrm>
          <a:prstGeom prst="rect">
            <a:avLst/>
          </a:prstGeom>
          <a:solidFill>
            <a:srgbClr val="2C1A0E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100" b="1" dirty="0">
                <a:solidFill>
                  <a:srgbClr val="C4956A"/>
                </a:solidFill>
                <a:latin typeface="Consolas" panose="020B0609020204030204"/>
              </a:rPr>
              <a:t>Part 1 -- Initialization &amp; Game Loop Setup</a:t>
            </a:r>
            <a:endParaRPr lang="en-US" sz="1100" b="1" dirty="0">
              <a:solidFill>
                <a:srgbClr val="C4956A"/>
              </a:solidFill>
              <a:latin typeface="Consolas" panose="020B0609020204030204"/>
            </a:endParaRPr>
          </a:p>
        </p:txBody>
      </p:sp>
      <p:sp>
        <p:nvSpPr>
          <p:cNvPr id="8" name="Label2"/>
          <p:cNvSpPr/>
          <p:nvPr/>
        </p:nvSpPr>
        <p:spPr>
          <a:xfrm>
            <a:off x="4743600" y="1285000"/>
            <a:ext cx="4171800" cy="250000"/>
          </a:xfrm>
          <a:prstGeom prst="rect">
            <a:avLst/>
          </a:prstGeom>
          <a:solidFill>
            <a:srgbClr val="2C1A0E"/>
          </a:solidFill>
          <a:ln w="0">
            <a:noFill/>
          </a:ln>
        </p:spPr>
        <p:txBody>
          <a:bodyPr lIns="91440" rIns="91440" anchor="ctr"/>
          <a:lstStyle/>
          <a:p>
            <a:pPr algn="l"/>
            <a:r>
              <a:rPr lang="en-US" sz="1100" b="1" dirty="0">
                <a:solidFill>
                  <a:srgbClr val="A0785A"/>
                </a:solidFill>
                <a:latin typeface="Consolas" panose="020B0609020204030204"/>
              </a:rPr>
              <a:t>Part 2 -- Jump, Collision &amp; Score Logic</a:t>
            </a:r>
            <a:endParaRPr lang="en-US" sz="1100" b="1" dirty="0">
              <a:solidFill>
                <a:srgbClr val="A0785A"/>
              </a:solidFill>
              <a:latin typeface="Consolas" panose="020B0609020204030204"/>
            </a:endParaRPr>
          </a:p>
        </p:txBody>
      </p:sp>
      <p:pic>
        <p:nvPicPr>
          <p:cNvPr id="9" name="RaptorFlowchart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57600"/>
            <a:ext cx="4200000" cy="3414600"/>
          </a:xfrm>
          <a:prstGeom prst="rect">
            <a:avLst/>
          </a:prstGeom>
          <a:ln w="19050">
            <a:solidFill>
              <a:srgbClr val="C4956A"/>
            </a:solidFill>
            <a:prstDash val="solid"/>
          </a:ln>
        </p:spPr>
      </p:pic>
      <p:pic>
        <p:nvPicPr>
          <p:cNvPr id="10" name="RaptorFlowchart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600" y="1557600"/>
            <a:ext cx="4171800" cy="3414600"/>
          </a:xfrm>
          <a:prstGeom prst="rect">
            <a:avLst/>
          </a:prstGeom>
          <a:ln w="19050">
            <a:solidFill>
              <a:srgbClr val="A0785A"/>
            </a:solidFill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04672"/>
          </a:xfrm>
          <a:prstGeom prst="rect">
            <a:avLst/>
          </a:prstGeom>
          <a:solidFill>
            <a:srgbClr val="1A100A"/>
          </a:solidFill>
          <a:ln w="12700">
            <a:solidFill>
              <a:srgbClr val="1A1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INTERFACE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64008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A0785A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04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87552"/>
            <a:ext cx="4160520" cy="1783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256032" y="987552"/>
            <a:ext cx="4160520" cy="1783080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A078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" y="2770632"/>
            <a:ext cx="4160520" cy="256032"/>
          </a:xfrm>
          <a:prstGeom prst="rect">
            <a:avLst/>
          </a:prstGeom>
          <a:solidFill>
            <a:srgbClr val="1A0F08"/>
          </a:solidFill>
          <a:ln w="12700">
            <a:solidFill>
              <a:srgbClr val="1A0F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277063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07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Start Screen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87552"/>
            <a:ext cx="4160520" cy="1783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4709160" y="987552"/>
            <a:ext cx="4160520" cy="1783080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8B6F5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09160" y="2770632"/>
            <a:ext cx="4160520" cy="256032"/>
          </a:xfrm>
          <a:prstGeom prst="rect">
            <a:avLst/>
          </a:prstGeom>
          <a:solidFill>
            <a:srgbClr val="1A0F08"/>
          </a:solidFill>
          <a:ln w="12700">
            <a:solidFill>
              <a:srgbClr val="1A0F0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00600" y="2770632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Gameplay — Sunset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926080"/>
            <a:ext cx="4160520" cy="1783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256032" y="2926080"/>
            <a:ext cx="4160520" cy="1783080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C0B8B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256032" y="4709160"/>
            <a:ext cx="4160520" cy="256032"/>
          </a:xfrm>
          <a:prstGeom prst="rect">
            <a:avLst/>
          </a:prstGeom>
          <a:solidFill>
            <a:srgbClr val="1A0F08"/>
          </a:solidFill>
          <a:ln w="12700">
            <a:solidFill>
              <a:srgbClr val="1A0F0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47472" y="470916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Gameplay — Night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26080"/>
            <a:ext cx="4160520" cy="17830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19" name="Shape 13"/>
          <p:cNvSpPr/>
          <p:nvPr/>
        </p:nvSpPr>
        <p:spPr>
          <a:xfrm>
            <a:off x="4709160" y="2926080"/>
            <a:ext cx="4160520" cy="1783080"/>
          </a:xfrm>
          <a:prstGeom prst="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7A4A3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709160" y="4709160"/>
            <a:ext cx="4160520" cy="256032"/>
          </a:xfrm>
          <a:prstGeom prst="rect">
            <a:avLst/>
          </a:prstGeom>
          <a:solidFill>
            <a:srgbClr val="1A0F08"/>
          </a:solidFill>
          <a:ln w="12700">
            <a:solidFill>
              <a:srgbClr val="1A0F0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800600" y="4709160"/>
            <a:ext cx="405079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A4A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Game Over Screen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04672"/>
          </a:xfrm>
          <a:prstGeom prst="rect">
            <a:avLst/>
          </a:prstGeom>
          <a:solidFill>
            <a:srgbClr val="1A100A"/>
          </a:solidFill>
          <a:ln w="12700">
            <a:solidFill>
              <a:srgbClr val="1A1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GAMEPLAY WALKTHROUGH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64008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8B6F5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05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24128"/>
            <a:ext cx="2724912" cy="14630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256032" y="1024128"/>
            <a:ext cx="2724912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A078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" y="2487168"/>
            <a:ext cx="2724912" cy="219456"/>
          </a:xfrm>
          <a:prstGeom prst="rect">
            <a:avLst/>
          </a:prstGeom>
          <a:solidFill>
            <a:srgbClr val="1A0F08"/>
          </a:solidFill>
          <a:ln w="12700">
            <a:solidFill>
              <a:srgbClr val="1A0F0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2487168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07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3-2-1 Countdown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024128"/>
            <a:ext cx="2724912" cy="14630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11" name="Shape 7"/>
          <p:cNvSpPr/>
          <p:nvPr/>
        </p:nvSpPr>
        <p:spPr>
          <a:xfrm>
            <a:off x="3209544" y="1024128"/>
            <a:ext cx="2724912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8B6F5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09544" y="2487168"/>
            <a:ext cx="2724912" cy="219456"/>
          </a:xfrm>
          <a:prstGeom prst="rect">
            <a:avLst/>
          </a:prstGeom>
          <a:solidFill>
            <a:srgbClr val="1A0F08"/>
          </a:solidFill>
          <a:ln w="12700">
            <a:solidFill>
              <a:srgbClr val="1A0F0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82696" y="2487168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B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— Score 21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024128"/>
            <a:ext cx="2724912" cy="14630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15" name="Shape 10"/>
          <p:cNvSpPr/>
          <p:nvPr/>
        </p:nvSpPr>
        <p:spPr>
          <a:xfrm>
            <a:off x="6163056" y="1024128"/>
            <a:ext cx="2724912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A0785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163056" y="2487168"/>
            <a:ext cx="2724912" cy="219456"/>
          </a:xfrm>
          <a:prstGeom prst="rect">
            <a:avLst/>
          </a:prstGeom>
          <a:solidFill>
            <a:srgbClr val="1A0F08"/>
          </a:solidFill>
          <a:ln w="12700">
            <a:solidFill>
              <a:srgbClr val="1A0F0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236208" y="2487168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A07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Sunset — Score 85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2724912"/>
            <a:ext cx="2724912" cy="14630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19" name="Shape 13"/>
          <p:cNvSpPr/>
          <p:nvPr/>
        </p:nvSpPr>
        <p:spPr>
          <a:xfrm>
            <a:off x="256032" y="2724912"/>
            <a:ext cx="2724912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A4A3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56032" y="4187952"/>
            <a:ext cx="2724912" cy="219456"/>
          </a:xfrm>
          <a:prstGeom prst="rect">
            <a:avLst/>
          </a:prstGeom>
          <a:solidFill>
            <a:srgbClr val="1A0F08"/>
          </a:solidFill>
          <a:ln w="12700">
            <a:solidFill>
              <a:srgbClr val="1A0F0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29184" y="4187952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A4A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Sky — Score 181</a:t>
            </a:r>
            <a:endParaRPr lang="en-US" sz="9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544" y="2724912"/>
            <a:ext cx="2724912" cy="14630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23" name="Shape 16"/>
          <p:cNvSpPr/>
          <p:nvPr/>
        </p:nvSpPr>
        <p:spPr>
          <a:xfrm>
            <a:off x="3209544" y="2724912"/>
            <a:ext cx="2724912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C0B8B0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209544" y="4187952"/>
            <a:ext cx="2724912" cy="219456"/>
          </a:xfrm>
          <a:prstGeom prst="rect">
            <a:avLst/>
          </a:prstGeom>
          <a:solidFill>
            <a:srgbClr val="1A0F08"/>
          </a:solidFill>
          <a:ln w="12700">
            <a:solidFill>
              <a:srgbClr val="1A0F08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282696" y="4187952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Night Jump — 494</a:t>
            </a:r>
            <a:endParaRPr lang="en-US" sz="9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2724912"/>
            <a:ext cx="2724912" cy="14630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pic>
      <p:sp>
        <p:nvSpPr>
          <p:cNvPr id="27" name="Shape 19"/>
          <p:cNvSpPr/>
          <p:nvPr/>
        </p:nvSpPr>
        <p:spPr>
          <a:xfrm>
            <a:off x="6163056" y="2724912"/>
            <a:ext cx="2724912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7A4A3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163056" y="4187952"/>
            <a:ext cx="2724912" cy="219456"/>
          </a:xfrm>
          <a:prstGeom prst="rect">
            <a:avLst/>
          </a:prstGeom>
          <a:solidFill>
            <a:srgbClr val="1A0F08"/>
          </a:solidFill>
          <a:ln w="12700">
            <a:solidFill>
              <a:srgbClr val="1A0F08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236208" y="4187952"/>
            <a:ext cx="26334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7A4A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Game Over — 512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256032" y="4434840"/>
            <a:ext cx="863193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E91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──────────────────── Sunset ──────────────── Night ➤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804672"/>
          </a:xfrm>
          <a:prstGeom prst="rect">
            <a:avLst/>
          </a:prstGeom>
          <a:solidFill>
            <a:srgbClr val="1A100A"/>
          </a:solidFill>
          <a:ln w="12700">
            <a:solidFill>
              <a:srgbClr val="1A1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64008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LIVE DEMO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64008"/>
            <a:ext cx="10058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A0785A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0" y="64008"/>
            <a:ext cx="45720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E91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Recorded Gameplay  ·  15 sec  ·  Day → Sunset → Night → Game Over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987552"/>
            <a:ext cx="7955280" cy="3886200"/>
          </a:xfrm>
          <a:prstGeom prst="rect">
            <a:avLst/>
          </a:prstGeom>
          <a:solidFill>
            <a:srgbClr val="0A0E17"/>
          </a:solidFill>
          <a:ln w="31750">
            <a:solidFill>
              <a:srgbClr val="A07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051560"/>
            <a:ext cx="7827264" cy="3758184"/>
          </a:xfrm>
          <a:prstGeom prst="rect">
            <a:avLst/>
          </a:prstGeom>
          <a:solidFill>
            <a:srgbClr val="0A0E17">
              <a:alpha val="0"/>
            </a:srgbClr>
          </a:solidFill>
          <a:ln w="12700">
            <a:solidFill>
              <a:srgbClr val="C0B8B0"/>
            </a:solidFill>
            <a:prstDash val="solid"/>
          </a:ln>
        </p:spPr>
      </p:sp>
      <p:pic>
        <p:nvPicPr>
          <p:cNvPr id="10" name="Live Demo (1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9096375" cy="51435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-763270" y="38652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MODULE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64008"/>
            <a:ext cx="100584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A0785A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07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3193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960120"/>
            <a:ext cx="64008" cy="475488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60120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078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051560"/>
            <a:ext cx="0" cy="292608"/>
          </a:xfrm>
          <a:prstGeom prst="line">
            <a:avLst/>
          </a:prstGeom>
          <a:noFill/>
          <a:ln w="12700">
            <a:solidFill>
              <a:srgbClr val="D0D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9968" y="960120"/>
            <a:ext cx="6748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Entry point — Resolution picker dialog, creates Tkinter window, launches Game()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476756"/>
            <a:ext cx="8631936" cy="475488"/>
          </a:xfrm>
          <a:prstGeom prst="rect">
            <a:avLst/>
          </a:prstGeom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476756"/>
            <a:ext cx="64008" cy="475488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47675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6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1568196"/>
            <a:ext cx="0" cy="292608"/>
          </a:xfrm>
          <a:prstGeom prst="line">
            <a:avLst/>
          </a:prstGeom>
          <a:noFill/>
          <a:ln w="12700">
            <a:solidFill>
              <a:srgbClr val="D0D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1476756"/>
            <a:ext cx="6748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Source of Truth — all constants: gravity, jump velocity, colours, speed thresholds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993392"/>
            <a:ext cx="863193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993392"/>
            <a:ext cx="64008" cy="475488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1993392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4A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game.py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0240" y="2084832"/>
            <a:ext cx="0" cy="292608"/>
          </a:xfrm>
          <a:prstGeom prst="line">
            <a:avLst/>
          </a:prstGeom>
          <a:noFill/>
          <a:ln w="12700">
            <a:solidFill>
              <a:srgbClr val="D0D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9968" y="1993392"/>
            <a:ext cx="6748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Kernel — 60 FPS root.after() loop + Finite State Machine (START→PLAYING→DYING→GAMEOVER)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510028"/>
            <a:ext cx="8631936" cy="475488"/>
          </a:xfrm>
          <a:prstGeom prst="rect">
            <a:avLst/>
          </a:prstGeom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510028"/>
            <a:ext cx="64008" cy="475488"/>
          </a:xfrm>
          <a:prstGeom prst="rect">
            <a:avLst/>
          </a:prstGeom>
          <a:solidFill>
            <a:srgbClr val="6B4C3B"/>
          </a:solidFill>
          <a:ln w="12700">
            <a:solidFill>
              <a:srgbClr val="6B4C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2510028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B4C3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entities.py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2601468"/>
            <a:ext cx="0" cy="292608"/>
          </a:xfrm>
          <a:prstGeom prst="line">
            <a:avLst/>
          </a:prstGeom>
          <a:noFill/>
          <a:ln w="12700">
            <a:solidFill>
              <a:srgbClr val="D0D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29968" y="2510028"/>
            <a:ext cx="6748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Classes: Car, Gap, Particle, Pillar — encapsulation, polymorphism, and OOP in action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026664"/>
            <a:ext cx="863193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026664"/>
            <a:ext cx="64008" cy="475488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026664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6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physics.py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0240" y="3118104"/>
            <a:ext cx="0" cy="292608"/>
          </a:xfrm>
          <a:prstGeom prst="line">
            <a:avLst/>
          </a:prstGeom>
          <a:noFill/>
          <a:ln w="12700">
            <a:solidFill>
              <a:srgbClr val="D0D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29968" y="3026664"/>
            <a:ext cx="6748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Pure stateless functions: apply_gravity(), aabb_overlap(), clamp() — no side effects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3543300"/>
            <a:ext cx="8631936" cy="475488"/>
          </a:xfrm>
          <a:prstGeom prst="rect">
            <a:avLst/>
          </a:prstGeom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3543300"/>
            <a:ext cx="64008" cy="475488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3543300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0785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parallax.py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20240" y="3634740"/>
            <a:ext cx="0" cy="292608"/>
          </a:xfrm>
          <a:prstGeom prst="line">
            <a:avLst/>
          </a:prstGeom>
          <a:noFill/>
          <a:ln w="12700">
            <a:solidFill>
              <a:srgbClr val="D0D6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29968" y="3543300"/>
            <a:ext cx="6748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7-layer rendering pipeline — sky, sun/moon, mountains, skyscrapers, wires, road, gaps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" y="4059936"/>
            <a:ext cx="863193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4059936"/>
            <a:ext cx="64008" cy="475488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405993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4A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ui.py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920240" y="4151376"/>
            <a:ext cx="0" cy="292608"/>
          </a:xfrm>
          <a:prstGeom prst="line">
            <a:avLst/>
          </a:prstGeom>
          <a:noFill/>
          <a:ln w="12700">
            <a:solidFill>
              <a:srgbClr val="D0D6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9968" y="4059936"/>
            <a:ext cx="6748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overlay states: StartScreen, Countdown, HUD, PauseOverlay, GameOverScreen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" y="4576572"/>
            <a:ext cx="8631936" cy="475488"/>
          </a:xfrm>
          <a:prstGeom prst="rect">
            <a:avLst/>
          </a:prstGeom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4576572"/>
            <a:ext cx="64008" cy="475488"/>
          </a:xfrm>
          <a:prstGeom prst="rect">
            <a:avLst/>
          </a:prstGeom>
          <a:solidFill>
            <a:srgbClr val="9E9188"/>
          </a:solidFill>
          <a:ln w="12700">
            <a:solidFill>
              <a:srgbClr val="9E91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4576572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E918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assets.py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920240" y="4668012"/>
            <a:ext cx="0" cy="292608"/>
          </a:xfrm>
          <a:prstGeom prst="line">
            <a:avLst/>
          </a:prstGeom>
          <a:noFill/>
          <a:ln w="12700">
            <a:solidFill>
              <a:srgbClr val="D0D6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29968" y="4576572"/>
            <a:ext cx="674827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Loads car.png as Tkinter PhotoImage; reads/writes highscore.txt safely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4008"/>
            <a:ext cx="777240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CS101 CONCEPTS IN OUR GAME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64008"/>
            <a:ext cx="1005840" cy="8503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8B6F5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08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631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64008" cy="603504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078992"/>
            <a:ext cx="1572768" cy="365760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78992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Variables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75688" y="996696"/>
            <a:ext cx="6720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config.py stores all constants. Car class uses self.speed, self.score, self.vy — no magic numbers anywhere.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56032" y="1664208"/>
            <a:ext cx="8631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64208"/>
            <a:ext cx="64008" cy="603504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" y="1783080"/>
            <a:ext cx="1572768" cy="365760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783080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Conditionals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75688" y="1700784"/>
            <a:ext cx="6720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AABB overlap → if True → STATE = DYING. All five game states route through an if/elif chain.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6032" y="2368296"/>
            <a:ext cx="8631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368296"/>
            <a:ext cx="64008" cy="603504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2487168"/>
            <a:ext cx="1572768" cy="365760"/>
          </a:xfrm>
          <a:prstGeom prst="rect">
            <a:avLst/>
          </a:prstGeom>
          <a:solidFill>
            <a:srgbClr val="8B6F5E"/>
          </a:solidFill>
          <a:ln w="12700">
            <a:solidFill>
              <a:srgbClr val="8B6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487168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Loops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75688" y="2404872"/>
            <a:ext cx="6720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gap in self.gaps checks all gaps per frame. for i in range(SPOKE_COUNT) draws the spinning wheel animation.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6032" y="3072384"/>
            <a:ext cx="8631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072384"/>
            <a:ext cx="64008" cy="603504"/>
          </a:xfrm>
          <a:prstGeom prst="rect">
            <a:avLst/>
          </a:prstGeom>
          <a:solidFill>
            <a:srgbClr val="6B4C3B"/>
          </a:solidFill>
          <a:ln w="12700">
            <a:solidFill>
              <a:srgbClr val="6B4C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3191256"/>
            <a:ext cx="1572768" cy="365760"/>
          </a:xfrm>
          <a:prstGeom prst="rect">
            <a:avLst/>
          </a:prstGeom>
          <a:solidFill>
            <a:srgbClr val="6B4C3B"/>
          </a:solidFill>
          <a:ln w="12700">
            <a:solidFill>
              <a:srgbClr val="6B4C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191256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Functions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75688" y="3108960"/>
            <a:ext cx="6720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apply_gravity() and aabb_overlap() in physics.py are pure stateless functions — callable, testable, reusable.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" y="3776472"/>
            <a:ext cx="8631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776472"/>
            <a:ext cx="64008" cy="603504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" y="3895344"/>
            <a:ext cx="1572768" cy="365760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895344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1A0E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Strings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75688" y="3813048"/>
            <a:ext cx="6720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Combo floaters (NICE!, GREAT!, AJX!) are strings. State labels (PLAYING, DYING) are string constants in config.py.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56032" y="4480560"/>
            <a:ext cx="8631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4480560"/>
            <a:ext cx="64008" cy="603504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2336" y="4599432"/>
            <a:ext cx="1572768" cy="365760"/>
          </a:xfrm>
          <a:prstGeom prst="rect">
            <a:avLst/>
          </a:prstGeom>
          <a:solidFill>
            <a:srgbClr val="7A4A35"/>
          </a:solidFill>
          <a:ln w="12700">
            <a:solidFill>
              <a:srgbClr val="7A4A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4599432"/>
            <a:ext cx="15727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OOP / Classes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75688" y="4517136"/>
            <a:ext cx="67208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2B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Car, Gap, Particle, Pillar classes. game.py only calls car.draw(canvas) — true encapsulation. No global state leakage.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0" y="502920"/>
            <a:ext cx="5852160" cy="4160520"/>
          </a:xfrm>
          <a:prstGeom prst="rect">
            <a:avLst/>
          </a:prstGeom>
          <a:solidFill>
            <a:srgbClr val="1A0F08">
              <a:alpha val="85000"/>
            </a:srgbClr>
          </a:solidFill>
          <a:ln w="27940">
            <a:solidFill>
              <a:srgbClr val="A078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1"/>
          <p:cNvSpPr/>
          <p:nvPr/>
        </p:nvSpPr>
        <p:spPr>
          <a:xfrm>
            <a:off x="1719072" y="576072"/>
            <a:ext cx="5705856" cy="4014216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0B8B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645920" y="502920"/>
            <a:ext cx="5852160" cy="73152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645920" y="658368"/>
            <a:ext cx="5852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THANK</a:t>
            </a:r>
            <a:endParaRPr lang="en-US" sz="6200" dirty="0"/>
          </a:p>
        </p:txBody>
      </p:sp>
      <p:sp>
        <p:nvSpPr>
          <p:cNvPr id="8" name="Text 4"/>
          <p:cNvSpPr/>
          <p:nvPr/>
        </p:nvSpPr>
        <p:spPr>
          <a:xfrm>
            <a:off x="1645920" y="1508760"/>
            <a:ext cx="5852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A0785A"/>
                </a:solidFill>
                <a:latin typeface="Cambria" panose="02040503050406030204" pitchFamily="18" charset="0"/>
                <a:ea typeface="Cambria" panose="02040503050406030204" pitchFamily="18" charset="-122"/>
                <a:cs typeface="Cambria" panose="02040503050406030204" pitchFamily="18" charset="-120"/>
              </a:rPr>
              <a:t>YOU</a:t>
            </a:r>
            <a:endParaRPr lang="en-US" sz="6200" dirty="0"/>
          </a:p>
        </p:txBody>
      </p:sp>
      <p:sp>
        <p:nvSpPr>
          <p:cNvPr id="9" name="Shape 5"/>
          <p:cNvSpPr/>
          <p:nvPr/>
        </p:nvSpPr>
        <p:spPr>
          <a:xfrm>
            <a:off x="2926080" y="2487168"/>
            <a:ext cx="3291840" cy="45720"/>
          </a:xfrm>
          <a:prstGeom prst="rect">
            <a:avLst/>
          </a:prstGeom>
          <a:solidFill>
            <a:srgbClr val="A0785A"/>
          </a:solidFill>
          <a:ln w="12700">
            <a:solidFill>
              <a:srgbClr val="A0785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645920" y="2578608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AJX-704 rides on.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645920" y="3017520"/>
            <a:ext cx="5852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</a:t>
            </a:r>
            <a:r>
              <a:rPr lang="en-US" sz="1200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Jump   </a:t>
            </a:r>
            <a:r>
              <a:rPr lang="en-US" sz="1200" b="1" dirty="0">
                <a:solidFill>
                  <a:srgbClr val="8B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</a:t>
            </a:r>
            <a:r>
              <a:rPr lang="en-US" sz="1200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Pause   </a:t>
            </a:r>
            <a:r>
              <a:rPr lang="en-US" sz="1200" b="1" dirty="0">
                <a:solidFill>
                  <a:srgbClr val="8B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r>
              <a:rPr lang="en-US" sz="1200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Restart   </a:t>
            </a:r>
            <a:r>
              <a:rPr lang="en-US" sz="1200" b="1" dirty="0">
                <a:solidFill>
                  <a:srgbClr val="8B6F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</a:t>
            </a:r>
            <a:r>
              <a:rPr lang="en-US" sz="1200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Quit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719072" y="3520440"/>
            <a:ext cx="5705856" cy="18288"/>
          </a:xfrm>
          <a:prstGeom prst="rect">
            <a:avLst/>
          </a:prstGeom>
          <a:solidFill>
            <a:srgbClr val="D0D6DE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45920" y="3611880"/>
            <a:ext cx="58521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07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Abdul Salam</a:t>
            </a:r>
            <a:r>
              <a:rPr lang="en-US" sz="1150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SP26-BSE-004</a:t>
            </a:r>
            <a:r>
              <a:rPr lang="en-US" sz="1150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</a:t>
            </a:r>
            <a:r>
              <a:rPr lang="en-US" sz="1150" b="1" dirty="0">
                <a:solidFill>
                  <a:srgbClr val="A078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Muhammad Fazal E Rabbi</a:t>
            </a:r>
            <a:r>
              <a:rPr lang="en-US" sz="1150" dirty="0">
                <a:solidFill>
                  <a:srgbClr val="C0B8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SP26-BSE-044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E91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Python + Tkinter only  ·  No game engine  ·  ICT Project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1A0E"/>
      </a:dk2>
      <a:lt2>
        <a:srgbClr val="F5F0EB"/>
      </a:lt2>
      <a:accent1>
        <a:srgbClr val="A0785A"/>
      </a:accent1>
      <a:accent2>
        <a:srgbClr val="C4956A"/>
      </a:accent2>
      <a:accent3>
        <a:srgbClr val="C0B8B0"/>
      </a:accent3>
      <a:accent4>
        <a:srgbClr val="7A4A35"/>
      </a:accent4>
      <a:accent5>
        <a:srgbClr val="8B6F5E"/>
      </a:accent5>
      <a:accent6>
        <a:srgbClr val="6B4C3B"/>
      </a:accent6>
      <a:hlink>
        <a:srgbClr val="7A4A35"/>
      </a:hlink>
      <a:folHlink>
        <a:srgbClr val="A0785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1A0E"/>
      </a:dk2>
      <a:lt2>
        <a:srgbClr val="F5F0EB"/>
      </a:lt2>
      <a:accent1>
        <a:srgbClr val="A0785A"/>
      </a:accent1>
      <a:accent2>
        <a:srgbClr val="C4956A"/>
      </a:accent2>
      <a:accent3>
        <a:srgbClr val="C0B8B0"/>
      </a:accent3>
      <a:accent4>
        <a:srgbClr val="7A4A35"/>
      </a:accent4>
      <a:accent5>
        <a:srgbClr val="8B6F5E"/>
      </a:accent5>
      <a:accent6>
        <a:srgbClr val="6B4C3B"/>
      </a:accent6>
      <a:hlink>
        <a:srgbClr val="7A4A35"/>
      </a:hlink>
      <a:folHlink>
        <a:srgbClr val="A0785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4457</Words>
  <Application>WPS Presentation</Application>
  <PresentationFormat>On-screen Show (16:9)</PresentationFormat>
  <Paragraphs>257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Cambria</vt:lpstr>
      <vt:lpstr>Arial</vt:lpstr>
      <vt:lpstr>Calibri</vt:lpstr>
      <vt:lpstr>Consolas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Adventures of AJX-704 — ICT Project</dc:title>
  <dc:creator>Abdul Salam &amp; Muhammad Fazal E Rabbi</dc:creator>
  <dc:subject>PptxGenJS Presentation</dc:subject>
  <cp:lastModifiedBy>Arsalan</cp:lastModifiedBy>
  <cp:revision>3</cp:revision>
  <dcterms:created xsi:type="dcterms:W3CDTF">2026-05-11T07:38:00Z</dcterms:created>
  <dcterms:modified xsi:type="dcterms:W3CDTF">2026-05-12T03:46:01Z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37A922DFA02949F78C82BD5208AC289C_12</vt:lpwstr>
  </property>
</Properties>
</file>